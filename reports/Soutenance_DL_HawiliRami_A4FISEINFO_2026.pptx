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79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217920" y="3337560"/>
            <a:ext cx="1280160" cy="1280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905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909560" y="3873852"/>
            <a:ext cx="822960" cy="822960"/>
          </a:xfrm>
          <a:prstGeom prst="ellipse">
            <a:avLst/>
          </a:prstGeom>
          <a:solidFill>
            <a:srgbClr val="4B5FC4">
              <a:alpha val="40000"/>
            </a:srgbClr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033272"/>
            <a:ext cx="365759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39" y="1033272"/>
            <a:ext cx="36575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 err="1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10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 Learning : Classification </a:t>
            </a:r>
            <a:r>
              <a:rPr lang="en-US" sz="1100" b="1" kern="0" spc="150" dirty="0" err="1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</a:t>
            </a:r>
            <a:endParaRPr lang="en-US" sz="1100" b="1" dirty="0"/>
          </a:p>
        </p:txBody>
      </p:sp>
      <p:sp>
        <p:nvSpPr>
          <p:cNvPr id="8" name="Text 6"/>
          <p:cNvSpPr/>
          <p:nvPr/>
        </p:nvSpPr>
        <p:spPr>
          <a:xfrm>
            <a:off x="548639" y="188595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3200" b="1" dirty="0"/>
              <a:t>Un outil d’aide à</a:t>
            </a:r>
            <a:r>
              <a:rPr lang="en-US" sz="3200" b="1" dirty="0"/>
              <a:t> la d</a:t>
            </a:r>
            <a:r>
              <a:rPr lang="fr-FR" sz="3200" b="1" dirty="0"/>
              <a:t>é</a:t>
            </a:r>
            <a:r>
              <a:rPr lang="en-US" sz="3200" b="1" dirty="0" err="1"/>
              <a:t>cision</a:t>
            </a:r>
            <a:r>
              <a:rPr lang="en-US" sz="3200" b="1" dirty="0"/>
              <a:t> pour la</a:t>
            </a:r>
            <a:r>
              <a:rPr lang="fr-FR" sz="3200" b="1" dirty="0"/>
              <a:t> prédiction du diabète</a:t>
            </a:r>
          </a:p>
        </p:txBody>
      </p:sp>
      <p:sp>
        <p:nvSpPr>
          <p:cNvPr id="10" name="Text 8"/>
          <p:cNvSpPr/>
          <p:nvPr/>
        </p:nvSpPr>
        <p:spPr>
          <a:xfrm>
            <a:off x="2835171" y="48691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fr-F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r>
              <a:rPr lang="fr-F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par Hawili Rami · CESI A4 FISE INFO · </a:t>
            </a:r>
            <a:r>
              <a:rPr lang="fr-F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24/05/2026</a:t>
            </a:r>
            <a:endParaRPr lang="en-US" sz="1000" dirty="0"/>
          </a:p>
        </p:txBody>
      </p:sp>
      <p:pic>
        <p:nvPicPr>
          <p:cNvPr id="1028" name="Picture 4" descr="CESi - Campus Région du numérique">
            <a:extLst>
              <a:ext uri="{FF2B5EF4-FFF2-40B4-BE49-F238E27FC236}">
                <a16:creationId xmlns:a16="http://schemas.microsoft.com/office/drawing/2014/main" id="{865A5BB0-742D-518C-4279-016E5BD3C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42" y="4039004"/>
            <a:ext cx="967336" cy="96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EA077E7-FFF8-0226-A228-D87D58C6C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010" y="147130"/>
            <a:ext cx="2925019" cy="29209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matières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856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69164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856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Text 10"/>
          <p:cNvSpPr/>
          <p:nvPr/>
        </p:nvSpPr>
        <p:spPr>
          <a:xfrm>
            <a:off x="68580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862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Observations </a:t>
            </a:r>
            <a:r>
              <a:rPr lang="en-US" sz="1200" dirty="0" err="1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69748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862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</a:t>
            </a:r>
            <a:r>
              <a:rPr lang="en-US" sz="1200" dirty="0" err="1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mod</a:t>
            </a:r>
            <a:r>
              <a:rPr lang="fr-FR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58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70332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3867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914400"/>
            <a:ext cx="2286000" cy="2286000"/>
          </a:xfrm>
          <a:prstGeom prst="ellipse">
            <a:avLst/>
          </a:prstGeom>
          <a:solidFill>
            <a:srgbClr val="3D4658">
              <a:alpha val="60000"/>
            </a:srgbClr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enjeu clé pour l'organisation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67512" y="181965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Enjeu principal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21488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ici le premier contexte clé identifié lors du cadrage du rapport.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10712" y="181965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Point d'attention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0712" y="21488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ici le deuxième point de contexte important pour la compréhension.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67512" y="2962656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Opportunité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329184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ici l'opportunité stratégique ou la question centrale qui motive ce rapport.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2847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28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rapport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200400" cy="2743200"/>
          </a:xfrm>
          <a:prstGeom prst="roundRect">
            <a:avLst>
              <a:gd name="adj" fmla="val 6667"/>
            </a:avLst>
          </a:prstGeom>
          <a:solidFill>
            <a:srgbClr val="2A3347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Illustration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0" y="19385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Formulez ici la question ou la problématique principale à laquelle ce rapport cherche à répondre.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7764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77640" y="3236976"/>
            <a:ext cx="164592" cy="164592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251960" y="3200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principal — résultat attendu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3712464"/>
            <a:ext cx="164592" cy="164592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251960" y="36758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secondaire — angle d'analyse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4187952"/>
            <a:ext cx="164592" cy="164592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251960" y="41513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— format de la restitution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2070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&amp; processus d'analyse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17319" y="2340864"/>
            <a:ext cx="811947" cy="73152"/>
          </a:xfrm>
          <a:prstGeom prst="rect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371600" cy="1371600"/>
          </a:xfrm>
          <a:prstGeom prst="ellipse">
            <a:avLst/>
          </a:prstGeom>
          <a:solidFill>
            <a:srgbClr val="2A3347"/>
          </a:solidFill>
          <a:ln w="3175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457200" cy="457200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et données primaires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2340864"/>
            <a:ext cx="811280" cy="73152"/>
          </a:xfrm>
          <a:prstGeom prst="rect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834640" y="1691640"/>
            <a:ext cx="1371600" cy="1371600"/>
          </a:xfrm>
          <a:prstGeom prst="ellipse">
            <a:avLst/>
          </a:prstGeom>
          <a:solidFill>
            <a:srgbClr val="2A3347"/>
          </a:solidFill>
          <a:ln w="3175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457200" cy="457200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structuration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9109" y="2340864"/>
            <a:ext cx="857333" cy="73152"/>
          </a:xfrm>
          <a:prstGeom prst="rect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937760" y="1691640"/>
            <a:ext cx="1371600" cy="1371600"/>
          </a:xfrm>
          <a:prstGeom prst="ellipse">
            <a:avLst/>
          </a:prstGeom>
          <a:solidFill>
            <a:srgbClr val="2A3347"/>
          </a:solidFill>
          <a:ln w="3175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394960" y="2148840"/>
            <a:ext cx="457200" cy="457200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et indicateurs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40880" y="1691640"/>
            <a:ext cx="1371600" cy="1371600"/>
          </a:xfrm>
          <a:prstGeom prst="ellipse">
            <a:avLst/>
          </a:prstGeom>
          <a:solidFill>
            <a:srgbClr val="2A3347"/>
          </a:solidFill>
          <a:ln w="3175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498080" y="2148840"/>
            <a:ext cx="457200" cy="457200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76656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recommandations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méthodologique : décrivez ici tout aspect particulier de votre démarche.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3200400"/>
            <a:ext cx="2560320" cy="2560320"/>
          </a:xfrm>
          <a:prstGeom prst="ellipse">
            <a:avLst/>
          </a:prstGeom>
          <a:solidFill>
            <a:srgbClr val="3D4658">
              <a:alpha val="55000"/>
            </a:srgbClr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182880"/>
            <a:ext cx="1645920" cy="1645920"/>
          </a:xfrm>
          <a:prstGeom prst="ellipse">
            <a:avLst/>
          </a:prstGeom>
          <a:solidFill>
            <a:srgbClr val="FFFFFF">
              <a:alpha val="35000"/>
            </a:srgbClr>
          </a:solidFill>
          <a:ln w="1905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0" y="14630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Visuel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34747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749040" y="347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749040" y="6583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de données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49040" y="1554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principales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048256"/>
            <a:ext cx="146304" cy="146304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05072" y="19933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d'observations — précisez la taille du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487168"/>
            <a:ext cx="146304" cy="146304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005072" y="24323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disponibles — types et nature des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926080"/>
            <a:ext cx="146304" cy="146304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05072" y="287121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— définissez la variable à prédire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3337560"/>
            <a:ext cx="5029200" cy="749808"/>
          </a:xfrm>
          <a:prstGeom prst="roundRect">
            <a:avLst>
              <a:gd name="adj" fmla="val 12195"/>
            </a:avLst>
          </a:prstGeom>
          <a:solidFill>
            <a:srgbClr val="E0E6F8"/>
          </a:solidFill>
          <a:ln w="12700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88620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34290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importante : décrivez ici la source, le contexte ou la limite principale de ce jeu de données.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observations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029200" cy="2651760"/>
          </a:xfrm>
          <a:prstGeom prst="roundRect">
            <a:avLst>
              <a:gd name="adj" fmla="val 4138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Graphique / Visualisation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87452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25312" y="19385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clé n°1 — décrivez l'observation principale.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83464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25312" y="28986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clé n°2 — deuxième observation importante.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379476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25312" y="385876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clé n°3 — troisième point notable.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[votre source]  ·  Données au [date]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675120" y="1371600"/>
            <a:ext cx="1828800" cy="1828800"/>
          </a:xfrm>
          <a:prstGeom prst="ellipse">
            <a:avLst/>
          </a:prstGeom>
          <a:solidFill>
            <a:srgbClr val="3D4658">
              <a:alpha val="55000"/>
            </a:srgbClr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126480" y="3200400"/>
            <a:ext cx="1188720" cy="1188720"/>
          </a:xfrm>
          <a:prstGeom prst="ellipse">
            <a:avLst/>
          </a:prstGeom>
          <a:solidFill>
            <a:srgbClr val="FFFFFF">
              <a:alpha val="35000"/>
            </a:srgbClr>
          </a:solidFill>
          <a:ln w="1905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02920" y="347472"/>
            <a:ext cx="973836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résultats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E0E6F8"/>
          </a:solidFill>
          <a:ln w="12700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XX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10896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principal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rapport à la période précédente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164592" cy="164592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principale — premier enseignement de l'analyse.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410712"/>
            <a:ext cx="164592" cy="164592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secondaire — deuxième résultat significatif.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164592" cy="164592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Troisième point — élément complémentaire à noter.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4401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440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à mettre en œuvre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58368" y="16002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1892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immédiate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0020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3F4F8"/>
                </a:solidFill>
              </a:rPr>
              <a:t>Décrivez l'action principale à mettre en place rapidement et son impact attendu.</a:t>
            </a:r>
            <a:endParaRPr lang="en-US" sz="100" dirty="0"/>
          </a:p>
        </p:txBody>
      </p:sp>
      <p:sp>
        <p:nvSpPr>
          <p:cNvPr id="10" name="Text 8"/>
          <p:cNvSpPr/>
          <p:nvPr/>
        </p:nvSpPr>
        <p:spPr>
          <a:xfrm>
            <a:off x="3200400" y="161848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l'action principale à mettre en place rapidement et son impact attendu.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178308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0E6F8"/>
          </a:solidFill>
          <a:ln w="12700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635240" y="1783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587752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58368" y="267919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" y="26791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8368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structurelle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679192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3F4F8"/>
                </a:solidFill>
              </a:rPr>
              <a:t>Identifiez les changements de fond et les ressources nécessaires à mobiliser.</a:t>
            </a:r>
            <a:endParaRPr lang="en-US" sz="100" dirty="0"/>
          </a:p>
        </p:txBody>
      </p:sp>
      <p:sp>
        <p:nvSpPr>
          <p:cNvPr id="18" name="Text 16"/>
          <p:cNvSpPr/>
          <p:nvPr/>
        </p:nvSpPr>
        <p:spPr>
          <a:xfrm>
            <a:off x="3200400" y="2697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Identifiez les changements de fond et les ressources nécessaires à mobiliser.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286207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0E6F8"/>
          </a:solidFill>
          <a:ln w="12700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635240" y="2862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666744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58368" y="3758184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58368" y="375818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8368" y="40507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continue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758184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3F4F8"/>
                </a:solidFill>
              </a:rPr>
              <a:t>Proposez des axes d'amélioration continue à intégrer sur la durée.</a:t>
            </a:r>
            <a:endParaRPr lang="en-US" sz="100" dirty="0"/>
          </a:p>
        </p:txBody>
      </p:sp>
      <p:sp>
        <p:nvSpPr>
          <p:cNvPr id="26" name="Text 24"/>
          <p:cNvSpPr/>
          <p:nvPr/>
        </p:nvSpPr>
        <p:spPr>
          <a:xfrm>
            <a:off x="3200400" y="37764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Proposez des axes d'amélioration continue à intégrer sur la durée.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394106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0E6F8"/>
          </a:solidFill>
          <a:ln w="12700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635240" y="39410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309360" y="274320"/>
            <a:ext cx="2743200" cy="2743200"/>
          </a:xfrm>
          <a:prstGeom prst="ellipse">
            <a:avLst/>
          </a:prstGeom>
          <a:solidFill>
            <a:srgbClr val="3D4658">
              <a:alpha val="55000"/>
            </a:srgbClr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858000" y="3200400"/>
            <a:ext cx="1645920" cy="1645920"/>
          </a:xfrm>
          <a:prstGeom prst="ellipse">
            <a:avLst/>
          </a:prstGeom>
          <a:solidFill>
            <a:srgbClr val="FFFFFF">
              <a:alpha val="35000"/>
            </a:srgbClr>
          </a:solidFill>
          <a:ln w="1905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02920" y="3474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4B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du rapport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Résumez ici les enseignements principaux. Ce paragraphe doit permettre au lecteur de retenir l'essentiel.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58368" y="2624328"/>
            <a:ext cx="182880" cy="182880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60120" y="248716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 n°1 — synthèse du premier axe.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58368" y="3355848"/>
            <a:ext cx="182880" cy="182880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60120" y="321868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 n°2 — résultat ou constat majeur.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EDF0FA"/>
          </a:solidFill>
          <a:ln w="9525">
            <a:solidFill>
              <a:srgbClr val="D4D9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58368" y="4087368"/>
            <a:ext cx="182880" cy="182880"/>
          </a:xfrm>
          <a:prstGeom prst="ellipse">
            <a:avLst/>
          </a:prstGeom>
          <a:solidFill>
            <a:srgbClr val="4B5FC4"/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60120" y="395020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 n°3 — prochaine étape recommandée.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préparé par [Nom]  ·  [Service]  ·  [Date]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52A4A"/>
          </a:solidFill>
          <a:ln w="12700">
            <a:solidFill>
              <a:srgbClr val="25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583680" y="182880"/>
            <a:ext cx="2926080" cy="292608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D465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223760" y="822960"/>
            <a:ext cx="1645920" cy="1645920"/>
          </a:xfrm>
          <a:prstGeom prst="ellipse">
            <a:avLst/>
          </a:prstGeom>
          <a:solidFill>
            <a:srgbClr val="4B5FC4">
              <a:alpha val="45000"/>
            </a:srgbClr>
          </a:solidFill>
          <a:ln w="12700">
            <a:solidFill>
              <a:srgbClr val="4B5F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 Hawili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393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</a:t>
            </a:r>
            <a:r>
              <a:rPr lang="fr-FR" sz="1200" b="1" dirty="0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b="1" dirty="0" err="1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nieur</a:t>
            </a:r>
            <a:r>
              <a:rPr lang="en-US" sz="1200" b="1" dirty="0">
                <a:solidFill>
                  <a:srgbClr val="3D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 Learning &amp; Data Science  · Bordeaux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548640" y="4041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Contact-info@HR.fr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541</Words>
  <Application>Microsoft Office PowerPoint</Application>
  <PresentationFormat>Affichage à l'écran (16:9)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Rami HAWILI</cp:lastModifiedBy>
  <cp:revision>8</cp:revision>
  <dcterms:created xsi:type="dcterms:W3CDTF">2026-05-24T16:30:44Z</dcterms:created>
  <dcterms:modified xsi:type="dcterms:W3CDTF">2026-05-24T17:05:11Z</dcterms:modified>
</cp:coreProperties>
</file>